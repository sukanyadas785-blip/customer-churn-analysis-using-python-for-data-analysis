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ela Gothic One"/>
      <p:regular r:id="rId17"/>
    </p:embeddedFont>
    <p:embeddedFont>
      <p:font typeface="Dela Gothic One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894171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Customer Churn Analysis Using Python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4425553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 Sukanya Das — Date: 27/01/2026. This project explores customer behavior, identifies churn patterns, and visualizes insights using Python libraries (Pandas, NumPy, Matplotlib, Seaborn) to inform retention strategies.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902744"/>
            <a:ext cx="5906691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Executive Summary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3810595"/>
            <a:ext cx="7627382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analysis examines a 7,043-row × 21-column public customer dataset to discover who churns and why. Key findings: month-to-month contracts and higher monthly charges are associated with higher churn; senior citizens churn more; longer-tenured customers churn less. Actionable recommendations focus on contract incentives, targeted pricing, senior engagement, and tenure rewards.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90919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Is Churn &amp; Why It Matters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4122301"/>
            <a:ext cx="7627382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(customer attrition) is the rate customers stop using a service over time. It’s critical for subscription businesses because retaining customers is far cheaper than acquiring new ones (acquisition can cost 5–7× more). Churn analysis stabilizes revenue, surfaces product or service issues, enables proactive interventions, and yields competitive advantage.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51058"/>
            <a:ext cx="5246727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Dataset Overview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3658910"/>
            <a:ext cx="7627382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Public open-source repository. Size: 7,043 rows × 21 columns. Key feature groups: Demographics (Gender, SeniorCitizen, Partners, Dependents); Service Subscriptions (Phone, MultipleLines, InternetService: DSL/Fiber optic, OnlineSecurity, DeviceProtection, TechSupport, StreamingTV/Movies); Billing &amp; Account (Tenure, Contract, PaperlessBilling, PaymentMethod, MonthlyCharges, TotalCharges). Target label: Churn (Yes/No).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18924"/>
            <a:ext cx="9534049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Methodology — Data Preparation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921550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Steps performed: handled missing values, encoded categorical variables, and computed basic statistics (mean, median, mode). Preprocessing ensured numeric readiness for EDA and downstream modeling. The dataset was profiled and cleaned before visualization.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929" y="2864525"/>
            <a:ext cx="4265057" cy="426505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553" y="2864525"/>
            <a:ext cx="4265176" cy="426517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295" y="2864525"/>
            <a:ext cx="4265176" cy="4265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62470"/>
            <a:ext cx="11578352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Exploratory Data Analysis (Key Visuals)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665095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Explored distributions and relationships: churn vs non‑churn, churn by contract type, monthly charges vs churn, and tenure vs churn. Visualizations included multi-curve comparisons and individual distribution curves to highlight patterns across segments.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484840"/>
            <a:ext cx="2443639" cy="15101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5231963"/>
            <a:ext cx="2875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Overall Distribution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58309" y="5657374"/>
            <a:ext cx="421326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All-curves comparison reveals separation between churned and retained customers across several features.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508" y="3484840"/>
            <a:ext cx="2443639" cy="15101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8508" y="523196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Contract Type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08508" y="5657374"/>
            <a:ext cx="421326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Month-to-month customers show the highest churn; longer contracts show lower churn.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707" y="3484840"/>
            <a:ext cx="2443758" cy="15103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8707" y="523208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Monthly Charges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8707" y="5657493"/>
            <a:ext cx="4213384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monthly charges correlate with greater likelihood to churn.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225868"/>
            <a:ext cx="6922413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Results &amp; Core Insights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44709" y="2133719"/>
            <a:ext cx="2416016" cy="3254216"/>
          </a:xfrm>
          <a:prstGeom prst="roundRect">
            <a:avLst>
              <a:gd name="adj" fmla="val 329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41877" y="2330887"/>
            <a:ext cx="2021681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Contract Effects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441877" y="3068003"/>
            <a:ext cx="2021681" cy="212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Month-to-month contracts drive higher churn (~43%), while one‑year (~11%) and two‑year (~3%) contracts show much lower churn.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850273" y="2133719"/>
            <a:ext cx="2416135" cy="3254216"/>
          </a:xfrm>
          <a:prstGeom prst="roundRect">
            <a:avLst>
              <a:gd name="adj" fmla="val 329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47440" y="2330887"/>
            <a:ext cx="2021800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Price Sensitivity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47440" y="3068003"/>
            <a:ext cx="2021800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Churned customers have higher mean monthly charges (~$74) versus retained (~$61), indicating price sensitivity.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455956" y="2133719"/>
            <a:ext cx="2416016" cy="3254216"/>
          </a:xfrm>
          <a:prstGeom prst="roundRect">
            <a:avLst>
              <a:gd name="adj" fmla="val 329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53123" y="2330887"/>
            <a:ext cx="2021681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Tenure &amp; Loyalty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1653123" y="3068003"/>
            <a:ext cx="2021681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tenure: churned ≈ 18 months; retained ≈ 36 months. Longer tenure correlates with retention.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244709" y="5577483"/>
            <a:ext cx="7627263" cy="1426250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1877" y="577465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Demographics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441877" y="6200061"/>
            <a:ext cx="7232928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 citizens churn at higher rates than younger customers—highlighting a need for targeted engagement.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04799"/>
            <a:ext cx="9700141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Metrics — Quantitative Highlights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3207425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metrics computed from the dataset: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58309" y="3818692"/>
            <a:ext cx="310074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4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26.5%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1061442" y="468118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Churn Rate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8309" y="5106591"/>
            <a:ext cx="310074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1,869 out of 7,043 customers churned → churn rate ≈ 26.5%.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95988" y="3818692"/>
            <a:ext cx="310074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4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18 mo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4095988" y="4681180"/>
            <a:ext cx="3100745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Avg Tenure (Churned)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095988" y="5418296"/>
            <a:ext cx="310074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Churned customers average ~18 months.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33667" y="3818692"/>
            <a:ext cx="310074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4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36 mo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7433667" y="4681180"/>
            <a:ext cx="3100745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Avg Tenure (Retained)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33667" y="5418296"/>
            <a:ext cx="310074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Retained customers average ~36 months.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771346" y="3818692"/>
            <a:ext cx="310074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4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$74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10771346" y="4681180"/>
            <a:ext cx="3100745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Monthly Charges (Churned)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771346" y="5418296"/>
            <a:ext cx="310074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 monthly for churned ≈ $74 vs retained ≈ $61.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435" y="1178004"/>
            <a:ext cx="4526280" cy="51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Recommendations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35" y="1878449"/>
            <a:ext cx="387668" cy="3876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435" y="2424708"/>
            <a:ext cx="3500318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Encourage Longer Contracts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20435" y="2755821"/>
            <a:ext cx="790313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Incentivize one- and two‑year contracts (discounts, bundled services) to reduce month-to-month churn.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435" y="3235166"/>
            <a:ext cx="387668" cy="3876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435" y="3781425"/>
            <a:ext cx="2040850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Targeted Pricing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20435" y="4112538"/>
            <a:ext cx="790313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Offer discounts or personalized plans for customers with high monthly charges to reduce price-driven churn.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435" y="4591883"/>
            <a:ext cx="387668" cy="3876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435" y="5138142"/>
            <a:ext cx="239696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Senior Engagement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20435" y="5469255"/>
            <a:ext cx="790313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tailored support and engagement programs for senior citizens to address higher churn in this group.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435" y="5948601"/>
            <a:ext cx="387668" cy="3876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0435" y="6494859"/>
            <a:ext cx="2040850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Tenure Rewards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20435" y="6825972"/>
            <a:ext cx="790313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loyalty benefits and tenure-based rewards to increase retention among longer-term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07137"/>
            <a:ext cx="7171849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 &amp; Next Steps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909763"/>
            <a:ext cx="131137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Python-based analysis revealed clear churn patterns: contract type, monthly charges, senior status, and tenure are key drivers. Use these insights to design targeted retention strategies. Suggested next steps: build predictive machine learning models, integrate external data (feedback, surveys), and deploy interactive dashboards (Power BI, Tableau, or Dash) for ongoing monitoring.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8309" y="3040380"/>
            <a:ext cx="1488758" cy="356235"/>
          </a:xfrm>
          <a:prstGeom prst="roundRect">
            <a:avLst>
              <a:gd name="adj" fmla="val 17881"/>
            </a:avLst>
          </a:prstGeom>
          <a:solidFill>
            <a:srgbClr val="460707"/>
          </a:solidFill>
          <a:ln/>
        </p:spPr>
      </p:sp>
      <p:sp>
        <p:nvSpPr>
          <p:cNvPr id="5" name="Text 3"/>
          <p:cNvSpPr/>
          <p:nvPr/>
        </p:nvSpPr>
        <p:spPr>
          <a:xfrm>
            <a:off x="872014" y="3097173"/>
            <a:ext cx="1261348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THEME: #D3C5B6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41840" y="3032760"/>
            <a:ext cx="2310408" cy="371475"/>
          </a:xfrm>
          <a:prstGeom prst="roundRect">
            <a:avLst>
              <a:gd name="adj" fmla="val 17147"/>
            </a:avLst>
          </a:prstGeom>
          <a:noFill/>
          <a:ln w="7620">
            <a:solidFill>
              <a:srgbClr val="C913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3165" y="3097173"/>
            <a:ext cx="2067758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PALETTE: #F2EBDF, #DECEBB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1586" y="3740706"/>
            <a:ext cx="4077772" cy="2274927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924" y="3740706"/>
            <a:ext cx="4077772" cy="2274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309" y="642318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References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758309" y="7019211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Pandas, NumPy, Matplotlib, Seaborn. THANK YOU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2026-02-28T07:29:07Z</dcterms:created>
  <dcterms:modified xsi:type="dcterms:W3CDTF">2026-02-28T07:29:07Z</dcterms:modified>
</cp:coreProperties>
</file>